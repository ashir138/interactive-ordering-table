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89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6CC8E-C0F1-8661-8449-8C4015E3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E51E4-FF2C-53DC-01F9-FA7A3FBE1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60301-C88F-6995-2047-29E589985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2236E-783E-3CC6-E479-77B555C4A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54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THE FUTURE OF DINING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0"/>
            <a:ext cx="4754880" cy="4754880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pic>
        <p:nvPicPr>
          <p:cNvPr id="7" name="Image 0" descr="D:\hackathon-2026-05-Ali-Ashir\public\assets\pizza\bases\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868680"/>
            <a:ext cx="4480560" cy="448056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868680"/>
            <a:ext cx="4480560" cy="4480560"/>
          </a:xfrm>
          <a:prstGeom prst="ellipse">
            <a:avLst/>
          </a:prstGeom>
          <a:noFill/>
          <a:ln w="254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630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
</a:t>
            </a: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3.14 π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502920" y="36576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Tabletop Pizza Ordering System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— BS Computer Science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02920" y="4892040"/>
            <a:ext cx="2926080" cy="502920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9560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0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7540" y="-107442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PROJECT INTRODUCTION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24841" y="2167128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67128"/>
            <a:ext cx="54864" cy="3941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802" y="2450592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
</a:t>
            </a: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University of Technology
</a:t>
            </a:r>
            <a:r>
              <a:rPr lang="en-US" sz="1100" b="1" dirty="0">
                <a:solidFill>
                  <a:srgbClr val="F5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
</a:t>
            </a: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Ma'am Kainaat Zafar
</a:t>
            </a:r>
            <a:r>
              <a:rPr lang="en-US" sz="1100" b="1" dirty="0">
                <a:solidFill>
                  <a:srgbClr val="F5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
</a:t>
            </a:r>
            <a:r>
              <a:rPr lang="en-US" sz="15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3.14 — Interactive Tabletop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&amp; Kitchen Management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167128"/>
            <a:ext cx="54864" cy="3941064"/>
          </a:xfrm>
          <a:prstGeom prst="rect">
            <a:avLst/>
          </a:prstGeom>
          <a:solidFill>
            <a:srgbClr val="F5C948"/>
          </a:solidFill>
          <a:ln w="12700">
            <a:solidFill>
              <a:srgbClr val="F5C94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2862072"/>
            <a:ext cx="384048" cy="384048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88036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86600" y="27889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Ashir
</a:t>
            </a:r>
            <a:r>
              <a:rPr lang="en-US" sz="12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F22605023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3666744"/>
            <a:ext cx="384048" cy="384048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685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359359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Shiza Khizar
</a:t>
            </a:r>
            <a:r>
              <a:rPr lang="en-US" sz="12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F22605038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4471416"/>
            <a:ext cx="384048" cy="384048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4897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439826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Saad
</a:t>
            </a:r>
            <a:r>
              <a:rPr lang="en-US" sz="12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F22605031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7960" y="5276088"/>
            <a:ext cx="384048" cy="384048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2943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5202936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Brekhna Afridi
</a:t>
            </a:r>
            <a:r>
              <a:rPr lang="en-US" sz="12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F22605049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PRESENTATION OUTLINE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220686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this pitch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11116"/>
          </a:solidFill>
          <a:ln w="9525">
            <a:solidFill>
              <a:srgbClr val="3D3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87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5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5420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11116"/>
          </a:solidFill>
          <a:ln w="9525">
            <a:solidFill>
              <a:srgbClr val="3D3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4871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5420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11116"/>
          </a:solidFill>
          <a:ln w="9525">
            <a:solidFill>
              <a:srgbClr val="3D3D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38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5935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11116"/>
          </a:solidFill>
          <a:ln w="9525">
            <a:solidFill>
              <a:srgbClr val="3D3D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538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35935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38912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11116"/>
          </a:solidFill>
          <a:ln w="9525">
            <a:solidFill>
              <a:srgbClr val="3D3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90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B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6451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438912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11116"/>
          </a:solidFill>
          <a:ln w="9525">
            <a:solidFill>
              <a:srgbClr val="3D3D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590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6600" y="46451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User Flows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5445719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11116"/>
          </a:solidFill>
          <a:ln w="9525">
            <a:solidFill>
              <a:srgbClr val="3D3D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6418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56967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styled Feedback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544068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11116"/>
          </a:solidFill>
          <a:ln w="9525">
            <a:solidFill>
              <a:srgbClr val="3D3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6418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56967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01 —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tabletop dining experience that turns pizza ordering into an immersive, real-time ritual.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61488"/>
            <a:ext cx="54864" cy="1563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718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874520" y="30632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Kitchen · Admin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7432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761488"/>
            <a:ext cx="54864" cy="1563624"/>
          </a:xfrm>
          <a:prstGeom prst="rect">
            <a:avLst/>
          </a:prstGeom>
          <a:solidFill>
            <a:srgbClr val="F5C948"/>
          </a:solidFill>
          <a:ln w="12700">
            <a:solidFill>
              <a:srgbClr val="F5C9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9718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680960" y="30632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Stages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PREPARING → BAKING → READY → SERVED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61772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636008"/>
            <a:ext cx="54864" cy="1563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46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874520" y="4937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Types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Sauce · Cheese · Toppings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461772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636008"/>
            <a:ext cx="54864" cy="1563624"/>
          </a:xfrm>
          <a:prstGeom prst="rect">
            <a:avLst/>
          </a:prstGeom>
          <a:solidFill>
            <a:srgbClr val="F5C948"/>
          </a:solidFill>
          <a:ln w="12700">
            <a:solidFill>
              <a:srgbClr val="F5C94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8463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680960" y="4937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builder with live nutrition &amp; pricing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02 — 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57784" y="1436914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restaurant ordering fails customers and kitchens alike.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58568"/>
            <a:ext cx="54864" cy="1837944"/>
          </a:xfrm>
          <a:prstGeom prst="rect">
            <a:avLst/>
          </a:prstGeom>
          <a:solidFill>
            <a:srgbClr val="DC5244"/>
          </a:solidFill>
          <a:ln w="12700">
            <a:solidFill>
              <a:srgbClr val="DC52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lifeless menus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interactivity or visual engagement at the table.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240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258568"/>
            <a:ext cx="54864" cy="1837944"/>
          </a:xfrm>
          <a:prstGeom prst="rect">
            <a:avLst/>
          </a:prstGeom>
          <a:solidFill>
            <a:srgbClr val="DC5244"/>
          </a:solidFill>
          <a:ln w="12700">
            <a:solidFill>
              <a:srgbClr val="DC524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miscommunication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relay introduces wrong toppings and sizes.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22402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258568"/>
            <a:ext cx="54864" cy="1837944"/>
          </a:xfrm>
          <a:prstGeom prst="rect">
            <a:avLst/>
          </a:prstGeom>
          <a:solidFill>
            <a:srgbClr val="DC5244"/>
          </a:solidFill>
          <a:ln w="12700">
            <a:solidFill>
              <a:srgbClr val="DC524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cannot see their pizza before it arrives.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3891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407408"/>
            <a:ext cx="54864" cy="1837944"/>
          </a:xfrm>
          <a:prstGeom prst="rect">
            <a:avLst/>
          </a:prstGeom>
          <a:solidFill>
            <a:srgbClr val="DC5244"/>
          </a:solidFill>
          <a:ln w="12700">
            <a:solidFill>
              <a:srgbClr val="DC524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17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pricing &amp; nutrition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166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calories or cost while customizing.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3891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4407408"/>
            <a:ext cx="54864" cy="1837944"/>
          </a:xfrm>
          <a:prstGeom prst="rect">
            <a:avLst/>
          </a:prstGeom>
          <a:solidFill>
            <a:srgbClr val="DC5244"/>
          </a:solidFill>
          <a:ln w="12700">
            <a:solidFill>
              <a:srgbClr val="DC52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617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kitchen workflow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166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tickets and shouted orders during peak hours.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440" y="43891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4407408"/>
            <a:ext cx="54864" cy="1837944"/>
          </a:xfrm>
          <a:prstGeom prst="rect">
            <a:avLst/>
          </a:prstGeom>
          <a:solidFill>
            <a:srgbClr val="DC5244"/>
          </a:solidFill>
          <a:ln w="12700">
            <a:solidFill>
              <a:srgbClr val="DC52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617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order status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66760" y="5166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wait in the dark — anxiety grows.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03 — OUR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1493831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3.14 unifies visual ordering, real-time kitchen sync, and tamper-evident feedback in one dark-glass tabletop experience — built for the modern restaurant.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715768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060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Orbit-ring pizza builder — </a:t>
            </a: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ingredients onto a live canvas with GSAP animations and real food photography.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465576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55848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nutrition &amp; billing — </a:t>
            </a: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Calories, macros, and price update instantly on every layer change.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215384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05656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 sync — </a:t>
            </a: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Kanban and customer table stay in sync without page refresh.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965192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55464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engagement — </a:t>
            </a: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 and pizza trivia while orders are prepared.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71500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05272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feedback chain — </a:t>
            </a:r>
            <a:r>
              <a:rPr lang="en-US" sz="12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blockchain-style ledger — verifiable by admin.</a:t>
            </a:r>
            <a:endParaRPr lang="en-US" sz="1300" dirty="0"/>
          </a:p>
        </p:txBody>
      </p:sp>
      <p:pic>
        <p:nvPicPr>
          <p:cNvPr id="19" name="Image 0" descr="D:\hackathon-2026-05-Ali-Ashir\public\assets\pizza\bases\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011680"/>
            <a:ext cx="3474720" cy="347472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04 — KEY FEATURES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57784" y="1380744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features. One revolution.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9976" y="20116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54864" cy="1380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2128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Pizza Builder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ingredients from an orbit ring. Layered canvas with BASE → SAUCE → CHEESE → TOPPINGS.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630168"/>
            <a:ext cx="54864" cy="1380744"/>
          </a:xfrm>
          <a:prstGeom prst="rect">
            <a:avLst/>
          </a:prstGeom>
          <a:solidFill>
            <a:srgbClr val="F5C948"/>
          </a:solidFill>
          <a:ln w="12700">
            <a:solidFill>
              <a:srgbClr val="F5C9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13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Nutrition &amp; Pricing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42702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Calories, protein, fats, carbs, and bill total update on every selection.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2120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5230368"/>
            <a:ext cx="54864" cy="1380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4132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Kitchen Kanban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" y="58704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push: NEW → PREPARING → BAKING → READY → SERVED. Zero refresh.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04 — KEY FEATURES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52728"/>
            <a:ext cx="54864" cy="1380744"/>
          </a:xfrm>
          <a:prstGeom prst="rect">
            <a:avLst/>
          </a:prstGeom>
          <a:solidFill>
            <a:srgbClr val="F5C948"/>
          </a:solidFill>
          <a:ln w="12700">
            <a:solidFill>
              <a:srgbClr val="F5C94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35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1892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watch status toasts and progress bar from the table.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52928"/>
            <a:ext cx="54864" cy="1380744"/>
          </a:xfrm>
          <a:prstGeom prst="rect">
            <a:avLst/>
          </a:prstGeom>
          <a:solidFill>
            <a:srgbClr val="DC5244"/>
          </a:solidFill>
          <a:ln w="12700">
            <a:solidFill>
              <a:srgbClr val="DC52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358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Feedback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chain: each review links to the previous block. Admin verifies integrity.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434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453128"/>
            <a:ext cx="54864" cy="1380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360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Famous Combo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0932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top-ordered combinations from real order data.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326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05 — THE EXPERIENCE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1382796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— from seat to satisfaction.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331720"/>
            <a:ext cx="10058400" cy="0"/>
          </a:xfrm>
          <a:prstGeom prst="line">
            <a:avLst/>
          </a:prstGeom>
          <a:noFill/>
          <a:ln w="12700">
            <a:solidFill>
              <a:srgbClr val="3D3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331720"/>
            <a:ext cx="100584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1965960"/>
            <a:ext cx="868680" cy="868680"/>
          </a:xfrm>
          <a:prstGeom prst="ellipse">
            <a:avLst/>
          </a:prstGeom>
          <a:solidFill>
            <a:srgbClr val="1111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17627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greets you with menu &amp; combo banner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965960"/>
            <a:ext cx="868680" cy="868680"/>
          </a:xfrm>
          <a:prstGeom prst="ellipse">
            <a:avLst/>
          </a:prstGeom>
          <a:solidFill>
            <a:srgbClr val="1111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17627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26080" y="3566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ring → canvas. Live nutrition &amp; price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965960"/>
            <a:ext cx="868680" cy="868680"/>
          </a:xfrm>
          <a:prstGeom prst="ellipse">
            <a:avLst/>
          </a:prstGeom>
          <a:solidFill>
            <a:srgbClr val="1111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17627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3566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— kitchen sees it instantly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1965960"/>
            <a:ext cx="868680" cy="868680"/>
          </a:xfrm>
          <a:prstGeom prst="ellipse">
            <a:avLst/>
          </a:prstGeom>
          <a:solidFill>
            <a:srgbClr val="1111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217627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3566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status: NEW through READY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49840" y="1965960"/>
            <a:ext cx="868680" cy="868680"/>
          </a:xfrm>
          <a:prstGeom prst="ellipse">
            <a:avLst/>
          </a:prstGeom>
          <a:solidFill>
            <a:srgbClr val="111116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0" y="217627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46920" y="3063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46920" y="3566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feedback after SERVED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06 —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364509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clients · one Next.js server · PostgreSQL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1828800"/>
            <a:ext cx="8503920" cy="868680"/>
          </a:xfrm>
          <a:prstGeom prst="roundRect">
            <a:avLst>
              <a:gd name="adj" fmla="val 5263"/>
            </a:avLst>
          </a:prstGeom>
          <a:solidFill>
            <a:srgbClr val="111116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08483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  |  Kitchen Kanban  |  Admin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2880360"/>
            <a:ext cx="8503920" cy="868680"/>
          </a:xfrm>
          <a:prstGeom prst="roundRect">
            <a:avLst>
              <a:gd name="adj" fmla="val 5263"/>
            </a:avLst>
          </a:prstGeom>
          <a:solidFill>
            <a:srgbClr val="111116"/>
          </a:solidFill>
          <a:ln w="19050">
            <a:solidFill>
              <a:srgbClr val="F5C9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990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31363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 · API Routes · Socket.io Server · Auth Middleware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0" y="3931920"/>
            <a:ext cx="8503920" cy="868680"/>
          </a:xfrm>
          <a:prstGeom prst="roundRect">
            <a:avLst>
              <a:gd name="adj" fmla="val 5263"/>
            </a:avLst>
          </a:prstGeom>
          <a:solidFill>
            <a:srgbClr val="111116"/>
          </a:solidFill>
          <a:ln w="19050">
            <a:solidFill>
              <a:srgbClr val="5CB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4041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CB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418795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 →  PostgreSQL (Supabase)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50749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Socket.io Rooms:  kitchen  |  table-{tableId}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6F322-1339-402E-F57D-52B2F1BB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7A9A09-AEB0-72CE-D885-BDF1F76AD0E1}"/>
              </a:ext>
            </a:extLst>
          </p:cNvPr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6C64A5A-17C9-4A6D-DFC5-1FA516BCFB47}"/>
              </a:ext>
            </a:extLst>
          </p:cNvPr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B00B6D-14D4-1D0E-638A-47A430342D89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7FBD27-DBE2-FE8B-70D1-F8F4666FA101}"/>
              </a:ext>
            </a:extLst>
          </p:cNvPr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06 — ARCHITECTURE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BAE3B5-5D17-19F4-4569-46D666040078}"/>
              </a:ext>
            </a:extLst>
          </p:cNvPr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9A9533-77E3-0DFA-7E70-A76E3E8F7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93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52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07 — TECHNOLOGY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production-grade tools chosen for speed and reliability.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" y="19659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84248"/>
            <a:ext cx="54864" cy="20208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· GSAP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@dnd-kit (touch drag)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984248"/>
            <a:ext cx="54864" cy="2020824"/>
          </a:xfrm>
          <a:prstGeom prst="rect">
            <a:avLst/>
          </a:prstGeom>
          <a:solidFill>
            <a:srgbClr val="F5C948"/>
          </a:solidFill>
          <a:ln w="12700">
            <a:solidFill>
              <a:srgbClr val="F5C9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56032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Node server + Socket.io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(Node crypto)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315968"/>
            <a:ext cx="54864" cy="2020824"/>
          </a:xfrm>
          <a:prstGeom prst="rect">
            <a:avLst/>
          </a:prstGeom>
          <a:solidFill>
            <a:srgbClr val="5CB870"/>
          </a:solidFill>
          <a:ln w="12700">
            <a:solidFill>
              <a:srgbClr val="5CB87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MenuItem · Order · OrderLayer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(append-only chain)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29768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315968"/>
            <a:ext cx="54864" cy="20208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Tools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489204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passphrase auth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(admin analytics)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08 — DATA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300127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with strict layer ordering and immutable feedback.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762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MenuItem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1214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Ingredients: name, layerType, price, nutrition, imageUrl, isAvailable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23697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tableId, status, totalPrice, totalCals, timestamps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151376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07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order ↔ menu item; server assigns zIndex for render stack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5266944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5229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546811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contentHash, prevHash, blockHash, timestamp — NEVER updated/deleted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" y="6348735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OrderStatus: NEW → PREPARING → BAKING → READY → SERVED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09 — MODULES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Modules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57784" y="1298448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personas — one connected ecosystem.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" y="18973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92808"/>
            <a:ext cx="54864" cy="1289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/table/{id}  ·  Public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builder · live bill · order · games · feedback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01568"/>
            <a:ext cx="54864" cy="1289304"/>
          </a:xfrm>
          <a:prstGeom prst="rect">
            <a:avLst/>
          </a:prstGeom>
          <a:solidFill>
            <a:srgbClr val="F5C948"/>
          </a:solidFill>
          <a:ln w="12700">
            <a:solidFill>
              <a:srgbClr val="F5C94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/kitchen  ·  Passphrase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Kanban · advance status · Socket.io live board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89204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910328"/>
            <a:ext cx="54864" cy="1289304"/>
          </a:xfrm>
          <a:prstGeom prst="rect">
            <a:avLst/>
          </a:prstGeom>
          <a:solidFill>
            <a:srgbClr val="DC5244"/>
          </a:solidFill>
          <a:ln w="12700">
            <a:solidFill>
              <a:srgbClr val="DC524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74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0" y="5120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5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  ·  Passphrase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5577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· orders · menu toggle · chain verifier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10 — CUSTOMER MODULE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 Experience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79120" y="1301621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Black-glass full-screen tabletop — no browser chrome.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" y="192024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Famous Combo banner auto-populates top orders (dismissible)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orbit ring around central pizza canvas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panel: live nutrition (calories, protein, fat, carbs)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panel: itemized bill + Place Order (requires exactly one BASE)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mode: orbit fades → Tic-Tac-Toe + Pizza Trivia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animations: fly-in layers, celebration on SERVED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182880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111116"/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Layout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0" y="24231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 Combo Banner ─────────────┐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Nutrition │ Canvas │ Bill 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│ Orbit  │      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│ Games* │      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*after order placed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11 — KITCHEN MODULE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Kanban Board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3400" y="1314217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orders only — live via Socket.io.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578983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111116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161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2578983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111116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7161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2578983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11111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7161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2578983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11111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7161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2578983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111116"/>
          </a:solidFill>
          <a:ln w="19050">
            <a:solidFill>
              <a:srgbClr val="6363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716143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58487" y="638633"/>
            <a:ext cx="538605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orders appear instantly — no refresh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→ moves one status step; emits to customer table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column is read-only (no further advance)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animates cards between columns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12 — INNOVATION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Blockchain-Style Feedback Ledger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57784" y="124601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reviews — verifiable in the admin panel.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984248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84248"/>
            <a:ext cx="54864" cy="38039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contentHash = SHA256(rawText)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prevHash    = previous blockHash (or "0")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  = ISO 8601 UTC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blockHash   = SHA256(prevHash + timestamp + contentHash)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14884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Append-only: Feedback rows are never updated or deleted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$transaction prevents prevHash race conditions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order.status === SERVED (one review per order)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"Verify Chain" re-computes hashes client-side (Web Crypto)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VALID or BROKEN per block — full transparency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13 — OUTCOMES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 in this FYP implementation.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655" y="1962695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tabletop ordering with photorealistic layered pizza canvas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real-time sync (Socket.io) between kitchen and customer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nutrition and pricing engine — no surprise bills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layer (games) reducing perceived wait time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feedback integrity without external blockchain APIs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dark UI matching premium landing-page design system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documented routes for orders, menu, feedback, admin stats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14 —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1645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0352" y="1307592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enhancements for production deployment.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38528"/>
            <a:ext cx="54864" cy="1197864"/>
          </a:xfrm>
          <a:prstGeom prst="rect">
            <a:avLst/>
          </a:prstGeom>
          <a:solidFill>
            <a:srgbClr val="5CB870"/>
          </a:solidFill>
          <a:ln w="12700">
            <a:solidFill>
              <a:srgbClr val="5CB87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2140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/ role-based access replacing demo passphrases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938528"/>
            <a:ext cx="54864" cy="1197864"/>
          </a:xfrm>
          <a:prstGeom prst="rect">
            <a:avLst/>
          </a:prstGeom>
          <a:solidFill>
            <a:srgbClr val="5CB870"/>
          </a:solidFill>
          <a:ln w="12700">
            <a:solidFill>
              <a:srgbClr val="5CB87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12140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support with per-location menus and analytics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355848"/>
            <a:ext cx="54864" cy="1197864"/>
          </a:xfrm>
          <a:prstGeom prst="rect">
            <a:avLst/>
          </a:prstGeom>
          <a:solidFill>
            <a:srgbClr val="5CB870"/>
          </a:solidFill>
          <a:ln w="12700">
            <a:solidFill>
              <a:srgbClr val="5CB87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3872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checkout (Stripe / local gateways)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355848"/>
            <a:ext cx="54864" cy="1197864"/>
          </a:xfrm>
          <a:prstGeom prst="rect">
            <a:avLst/>
          </a:prstGeom>
          <a:solidFill>
            <a:srgbClr val="5CB870"/>
          </a:solidFill>
          <a:ln w="12700">
            <a:solidFill>
              <a:srgbClr val="5CB8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53872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waiter / manager apps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773168"/>
            <a:ext cx="54864" cy="1197864"/>
          </a:xfrm>
          <a:prstGeom prst="rect">
            <a:avLst/>
          </a:prstGeom>
          <a:solidFill>
            <a:srgbClr val="5CB870"/>
          </a:solidFill>
          <a:ln w="12700">
            <a:solidFill>
              <a:srgbClr val="5CB8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95604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combos from order history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47548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11116">
              <a:alpha val="85000"/>
            </a:srgbClr>
          </a:solidFill>
          <a:ln w="12700">
            <a:solidFill>
              <a:srgbClr val="3D3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773168"/>
            <a:ext cx="54864" cy="1197864"/>
          </a:xfrm>
          <a:prstGeom prst="rect">
            <a:avLst/>
          </a:prstGeom>
          <a:solidFill>
            <a:srgbClr val="5CB870"/>
          </a:solidFill>
          <a:ln w="12700">
            <a:solidFill>
              <a:srgbClr val="5CB87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95604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
</a:t>
            </a:r>
            <a:r>
              <a:rPr lang="en-US" sz="11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table sensors + kitchen display systems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7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097280"/>
            <a:ext cx="6400800" cy="45720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114800"/>
            <a:ext cx="5486400" cy="4114800"/>
          </a:xfrm>
          <a:prstGeom prst="ellipse">
            <a:avLst/>
          </a:prstGeom>
          <a:solidFill>
            <a:srgbClr val="F5C948">
              <a:alpha val="10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5C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THANK YOU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"/>
            <a:ext cx="4114800" cy="41148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0707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828800"/>
            <a:ext cx="121889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D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
</a:t>
            </a: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3.14 π
</a:t>
            </a:r>
            <a:endParaRPr lang="en-US" sz="48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B8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0" y="53492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University of Technology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Ma'am Kainaat Zafar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Ashir · Shiza Khizar · Muhammad Saad · Brekhna Afridi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1339</Words>
  <Application>Microsoft Office PowerPoint</Application>
  <PresentationFormat>Widescreen</PresentationFormat>
  <Paragraphs>264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3.14 — Smart Tabletop Ordering System</dc:title>
  <dc:subject>Final Year Project Pitch — National University of Technology</dc:subject>
  <dc:creator>Ali Ashir et al.</dc:creator>
  <cp:lastModifiedBy>Ali Ashir</cp:lastModifiedBy>
  <cp:revision>2</cp:revision>
  <dcterms:created xsi:type="dcterms:W3CDTF">2026-06-02T06:28:53Z</dcterms:created>
  <dcterms:modified xsi:type="dcterms:W3CDTF">2026-06-02T07:04:34Z</dcterms:modified>
</cp:coreProperties>
</file>